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73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Manual control</c:v>
                </c:pt>
              </c:strCache>
            </c:strRef>
          </c:tx>
          <c:spPr>
            <a:solidFill>
              <a:srgbClr val="B2C9BE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Biomass gain (g)</c:v>
                </c:pt>
                <c:pt idx="1">
                  <c:v>Final biomass (g)</c:v>
                </c:pt>
                <c:pt idx="2">
                  <c:v>ADG (g/fish/day)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2755.33</c:v>
                </c:pt>
                <c:pt idx="1">
                  <c:v>8987</c:v>
                </c:pt>
                <c:pt idx="2">
                  <c:v>2.6240000000000001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Smart Assisted</c:v>
                </c:pt>
              </c:strCache>
            </c:strRef>
          </c:tx>
          <c:spPr>
            <a:solidFill>
              <a:srgbClr val="F5BE4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Biomass gain (g)</c:v>
                </c:pt>
                <c:pt idx="1">
                  <c:v>Final biomass (g)</c:v>
                </c:pt>
                <c:pt idx="2">
                  <c:v>ADG (g/fish/day)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3169.22</c:v>
                </c:pt>
                <c:pt idx="1">
                  <c:v>9404</c:v>
                </c:pt>
                <c:pt idx="2">
                  <c:v>3.391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352041216"/>
        <c:axId val="-352048288"/>
      </c:barChart>
      <c:catAx>
        <c:axId val="-35204121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7F4E8"/>
                </a:solidFill>
              </a:defRPr>
            </a:pPr>
            <a:endParaRPr lang="en-US"/>
          </a:p>
        </c:txPr>
        <c:crossAx val="-352048288"/>
        <c:crosses val="autoZero"/>
        <c:auto val="1"/>
        <c:lblAlgn val="ctr"/>
        <c:lblOffset val="100"/>
        <c:noMultiLvlLbl val="0"/>
      </c:catAx>
      <c:valAx>
        <c:axId val="-35204828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B2C9BE"/>
                </a:solidFill>
              </a:defRPr>
            </a:pPr>
            <a:endParaRPr lang="en-US"/>
          </a:p>
        </c:txPr>
        <c:crossAx val="-352041216"/>
        <c:crosses val="autoZero"/>
        <c:crossBetween val="between"/>
      </c:valAx>
    </c:plotArea>
    <c:legend>
      <c:legendPos val="tr"/>
      <c:layout/>
      <c:overlay val="0"/>
      <c:txPr>
        <a:bodyPr/>
        <a:lstStyle/>
        <a:p>
          <a:pPr>
            <a:defRPr>
              <a:solidFill>
                <a:srgbClr val="F7F4E8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083026"/>
          </a:solidFill>
          <a:ln>
            <a:solidFill>
              <a:srgbClr val="083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660043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1" y="50292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2224" y="50292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766560" cy="1554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400" b="1">
                <a:solidFill>
                  <a:srgbClr val="F7F4E8"/>
                </a:solidFill>
                <a:latin typeface="Aptos"/>
              </a:rPr>
              <a:t>Intelligent feeding
for resilient aquaculture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46120"/>
            <a:ext cx="292608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F5BE48"/>
                </a:solidFill>
                <a:latin typeface="Aptos"/>
              </a:rPr>
              <a:t>SmartAqua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51206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BEE8BE"/>
                </a:solidFill>
                <a:latin typeface="Aptos"/>
              </a:rPr>
              <a:t>Africa Agri-future Innovation Challenge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585216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>
                <a:solidFill>
                  <a:srgbClr val="B2C9BE"/>
                </a:solidFill>
                <a:latin typeface="Aptos"/>
              </a:rPr>
              <a:t>Ogunbunmi Philip Oluwadarasimi
Federal University of Technology, Akure
08169150242  •  ogunbunmiphilip@gmail.com</a:t>
            </a:r>
          </a:p>
        </p:txBody>
      </p:sp>
      <p:pic>
        <p:nvPicPr>
          <p:cNvPr id="10" name="Picture 9" descr="photo_2026-07-16_11-01-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88720"/>
            <a:ext cx="3749039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0" y="5989320"/>
            <a:ext cx="32004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>
                <a:solidFill>
                  <a:srgbClr val="F5BE48"/>
                </a:solidFill>
                <a:latin typeface="Aptos"/>
              </a:rPr>
              <a:t>FIELD-TESTED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599"/>
            <a:ext cx="66004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271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347472"/>
            <a:ext cx="2423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F5BE48"/>
                </a:solidFill>
                <a:latin typeface="Aptos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100" b="1">
                <a:solidFill>
                  <a:srgbClr val="F7F4E8"/>
                </a:solidFill>
                <a:latin typeface="Aptos"/>
              </a:rPr>
              <a:t>The aquaculture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64008"/>
          </a:xfrm>
          <a:prstGeom prst="rect">
            <a:avLst/>
          </a:prstGeom>
          <a:solidFill>
            <a:srgbClr val="F5BE48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640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2000">
                <a:solidFill>
                  <a:srgbClr val="F7F4E8"/>
                </a:solidFill>
                <a:latin typeface="Aptos"/>
              </a:defRPr>
            </a:pPr>
            <a:r>
              <a:t>Inconsistent feeding increases waste and operating cost.</a:t>
            </a:r>
          </a:p>
          <a:p>
            <a:pPr>
              <a:spcAft>
                <a:spcPts val="80"/>
              </a:spcAft>
              <a:defRPr sz="2000">
                <a:solidFill>
                  <a:srgbClr val="F7F4E8"/>
                </a:solidFill>
                <a:latin typeface="Aptos"/>
              </a:defRPr>
            </a:pPr>
            <a:r>
              <a:t>Farmers cannot always be present for every feeding event.</a:t>
            </a:r>
          </a:p>
          <a:p>
            <a:pPr>
              <a:spcAft>
                <a:spcPts val="80"/>
              </a:spcAft>
              <a:defRPr sz="2000">
                <a:solidFill>
                  <a:srgbClr val="F7F4E8"/>
                </a:solidFill>
                <a:latin typeface="Aptos"/>
              </a:defRPr>
            </a:pPr>
            <a:r>
              <a:t>Water-temperature changes affect fish metabolism and feed demand.</a:t>
            </a:r>
          </a:p>
          <a:p>
            <a:pPr>
              <a:spcAft>
                <a:spcPts val="80"/>
              </a:spcAft>
              <a:defRPr sz="2000">
                <a:solidFill>
                  <a:srgbClr val="F7F4E8"/>
                </a:solidFill>
                <a:latin typeface="Aptos"/>
              </a:defRPr>
            </a:pPr>
            <a:r>
              <a:t>Rural farms need solutions that can become independent of unreliable grid power.</a:t>
            </a:r>
          </a:p>
          <a:p>
            <a:pPr>
              <a:spcAft>
                <a:spcPts val="80"/>
              </a:spcAft>
              <a:defRPr sz="2000">
                <a:solidFill>
                  <a:srgbClr val="F7F4E8"/>
                </a:solidFill>
                <a:latin typeface="Aptos"/>
              </a:defRPr>
            </a:pPr>
            <a:r>
              <a:t>Limited farm data makes it difficult to improve feeding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94560"/>
            <a:ext cx="3566160" cy="338328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2560320"/>
            <a:ext cx="27432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1">
                <a:solidFill>
                  <a:srgbClr val="F5BE48"/>
                </a:solidFill>
                <a:latin typeface="Aptos"/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46120"/>
            <a:ext cx="2743200" cy="1325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0">
                <a:solidFill>
                  <a:srgbClr val="F7F4E8"/>
                </a:solidFill>
                <a:latin typeface="Aptos"/>
              </a:rPr>
              <a:t>Make feeding consistent, measurable and responsive to real farm conditions—without requiring the farmer to be physically present.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983480"/>
            <a:ext cx="274320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BEE8BE"/>
                </a:solidFill>
                <a:latin typeface="Aptos"/>
              </a:rPr>
              <a:t>Target users: small and medium-scale African fish farms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599"/>
            <a:ext cx="66004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271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347472"/>
            <a:ext cx="2423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F5BE48"/>
                </a:solidFill>
                <a:latin typeface="Aptos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100" b="1">
                <a:solidFill>
                  <a:srgbClr val="F7F4E8"/>
                </a:solidFill>
                <a:latin typeface="Aptos"/>
              </a:rPr>
              <a:t>One platform, three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64008"/>
          </a:xfrm>
          <a:prstGeom prst="rect">
            <a:avLst/>
          </a:prstGeom>
          <a:solidFill>
            <a:srgbClr val="F5BE48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971800" cy="297180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5146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1">
                <a:solidFill>
                  <a:srgbClr val="F5BE48"/>
                </a:solidFill>
                <a:latin typeface="Aptos"/>
              </a:rPr>
              <a:t>Feeder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2468880" cy="11887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F7F4E8"/>
                </a:solidFill>
                <a:latin typeface="Aptos"/>
              </a:rPr>
              <a:t>Motorized auger dispenser with scheduled and manual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057400"/>
            <a:ext cx="2971800" cy="297180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423160"/>
            <a:ext cx="25146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1">
                <a:solidFill>
                  <a:srgbClr val="F5BE48"/>
                </a:solidFill>
                <a:latin typeface="Aptos"/>
              </a:rP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54680"/>
            <a:ext cx="2468880" cy="11887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F7F4E8"/>
                </a:solidFill>
                <a:latin typeface="Aptos"/>
              </a:rPr>
              <a:t>Q10 temperature adjustment, feeding logs and operational sensing.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57400"/>
            <a:ext cx="2971800" cy="297180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423160"/>
            <a:ext cx="25146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1">
                <a:solidFill>
                  <a:srgbClr val="F5BE48"/>
                </a:solidFill>
                <a:latin typeface="Aptos"/>
              </a:rPr>
              <a:t>Farmer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154680"/>
            <a:ext cx="2468880" cy="11887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F7F4E8"/>
                </a:solidFill>
                <a:latin typeface="Aptos"/>
              </a:rPr>
              <a:t>Remote control, schedules, history, alerts and device monitoring.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21031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>
                <a:solidFill>
                  <a:srgbClr val="BEE8BE"/>
                </a:solidFill>
                <a:latin typeface="Aptos"/>
              </a:rPr>
              <a:t>Current validated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486400"/>
            <a:ext cx="8046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F7F4E8"/>
                </a:solidFill>
                <a:latin typeface="Aptos"/>
              </a:rPr>
              <a:t>Schedule or manual request  →  Q10 adjustment  →  dispensing  →  experiment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599"/>
            <a:ext cx="66004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271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347472"/>
            <a:ext cx="2423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F5BE48"/>
                </a:solidFill>
                <a:latin typeface="Aptos"/>
              </a:rPr>
              <a:t>PROTOTYPE IN 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100" b="1">
                <a:solidFill>
                  <a:srgbClr val="F7F4E8"/>
                </a:solidFill>
                <a:latin typeface="Aptos"/>
              </a:rPr>
              <a:t>Experimental feeder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64008"/>
          </a:xfrm>
          <a:prstGeom prst="rect">
            <a:avLst/>
          </a:prstGeom>
          <a:solidFill>
            <a:srgbClr val="F5BE48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hoto_2026-07-16_11-01-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649224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2057400"/>
            <a:ext cx="3840480" cy="356616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2377440"/>
            <a:ext cx="301752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F5BE48"/>
                </a:solidFill>
                <a:latin typeface="Aptos"/>
              </a:rPr>
              <a:t>Design characteristics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0632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600">
                <a:solidFill>
                  <a:srgbClr val="F7F4E8"/>
                </a:solidFill>
                <a:latin typeface="Aptos"/>
              </a:defRPr>
            </a:pPr>
            <a:r>
              <a:rPr dirty="0"/>
              <a:t>Hopper and auger-based dispensing</a:t>
            </a:r>
          </a:p>
          <a:p>
            <a:pPr>
              <a:spcAft>
                <a:spcPts val="80"/>
              </a:spcAft>
              <a:defRPr sz="1600">
                <a:solidFill>
                  <a:srgbClr val="F7F4E8"/>
                </a:solidFill>
                <a:latin typeface="Aptos"/>
              </a:defRPr>
            </a:pPr>
            <a:r>
              <a:rPr dirty="0"/>
              <a:t>Stepper motor control</a:t>
            </a:r>
          </a:p>
          <a:p>
            <a:pPr>
              <a:spcAft>
                <a:spcPts val="80"/>
              </a:spcAft>
              <a:defRPr sz="1600">
                <a:solidFill>
                  <a:srgbClr val="F7F4E8"/>
                </a:solidFill>
                <a:latin typeface="Aptos"/>
              </a:defRPr>
            </a:pPr>
            <a:r>
              <a:rPr dirty="0"/>
              <a:t>Designed for repeatable quantities</a:t>
            </a:r>
          </a:p>
          <a:p>
            <a:pPr>
              <a:spcAft>
                <a:spcPts val="80"/>
              </a:spcAft>
              <a:defRPr sz="1600">
                <a:solidFill>
                  <a:srgbClr val="F7F4E8"/>
                </a:solidFill>
                <a:latin typeface="Aptos"/>
              </a:defRPr>
            </a:pPr>
            <a:r>
              <a:rPr dirty="0"/>
              <a:t>Mounting frame for pond-side installation</a:t>
            </a:r>
          </a:p>
          <a:p>
            <a:pPr>
              <a:spcAft>
                <a:spcPts val="80"/>
              </a:spcAft>
              <a:defRPr sz="1600">
                <a:solidFill>
                  <a:srgbClr val="F7F4E8"/>
                </a:solidFill>
                <a:latin typeface="Aptos"/>
              </a:defRPr>
            </a:pPr>
            <a:r>
              <a:rPr dirty="0"/>
              <a:t>Expandable sensor and power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6700" y="5303520"/>
            <a:ext cx="2926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 dirty="0">
                <a:solidFill>
                  <a:srgbClr val="B2C9BE"/>
                </a:solidFill>
                <a:latin typeface="Aptos"/>
              </a:rPr>
              <a:t>Experimental-stage hardware shown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599"/>
            <a:ext cx="66004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271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347472"/>
            <a:ext cx="2423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F5BE48"/>
                </a:solidFill>
                <a:latin typeface="Aptos"/>
              </a:rPr>
              <a:t>WHAT WE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100" b="1">
                <a:solidFill>
                  <a:srgbClr val="F7F4E8"/>
                </a:solidFill>
                <a:latin typeface="Aptos"/>
              </a:rPr>
              <a:t>Evidence from the pilot 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64008"/>
          </a:xfrm>
          <a:prstGeom prst="rect">
            <a:avLst/>
          </a:prstGeom>
          <a:solidFill>
            <a:srgbClr val="F5BE48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05156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BEE8BE"/>
                </a:solidFill>
                <a:latin typeface="Aptos"/>
              </a:rPr>
              <a:t>56 days  •  224 feeding records  •  Manual control vs Smart Assisted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2468880"/>
          <a:ext cx="66751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26679" y="2468880"/>
            <a:ext cx="3383280" cy="333756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2743200"/>
            <a:ext cx="25603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F5BE48"/>
                </a:solidFill>
                <a:latin typeface="Aptos"/>
              </a:rPr>
              <a:t>Pilot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42900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700">
                <a:solidFill>
                  <a:srgbClr val="F7F4E8"/>
                </a:solidFill>
                <a:latin typeface="Aptos"/>
              </a:defRPr>
            </a:pPr>
            <a:r>
              <a:rPr dirty="0"/>
              <a:t>+15.0% biomass gain</a:t>
            </a:r>
          </a:p>
          <a:p>
            <a:pPr>
              <a:spcAft>
                <a:spcPts val="80"/>
              </a:spcAft>
              <a:defRPr sz="1700">
                <a:solidFill>
                  <a:srgbClr val="F7F4E8"/>
                </a:solidFill>
                <a:latin typeface="Aptos"/>
              </a:defRPr>
            </a:pPr>
            <a:r>
              <a:rPr dirty="0"/>
              <a:t>+29.2% average daily gain</a:t>
            </a:r>
          </a:p>
          <a:p>
            <a:pPr>
              <a:spcAft>
                <a:spcPts val="80"/>
              </a:spcAft>
              <a:defRPr sz="1700">
                <a:solidFill>
                  <a:srgbClr val="F7F4E8"/>
                </a:solidFill>
                <a:latin typeface="Aptos"/>
              </a:defRPr>
            </a:pPr>
            <a:r>
              <a:rPr dirty="0"/>
              <a:t>+9.7% LER</a:t>
            </a:r>
          </a:p>
          <a:p>
            <a:pPr>
              <a:spcAft>
                <a:spcPts val="80"/>
              </a:spcAft>
              <a:defRPr sz="1700">
                <a:solidFill>
                  <a:srgbClr val="F7F4E8"/>
                </a:solidFill>
                <a:latin typeface="Aptos"/>
              </a:defRPr>
            </a:pPr>
            <a:r>
              <a:rPr dirty="0"/>
              <a:t>~8.9% lower calculated FCR</a:t>
            </a:r>
          </a:p>
          <a:p>
            <a:pPr>
              <a:spcAft>
                <a:spcPts val="80"/>
              </a:spcAft>
              <a:defRPr sz="1700">
                <a:solidFill>
                  <a:srgbClr val="F7F4E8"/>
                </a:solidFill>
                <a:latin typeface="Aptos"/>
              </a:defRPr>
            </a:pPr>
            <a:r>
              <a:rPr dirty="0"/>
              <a:t>Q10 factor logged across temperature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599"/>
            <a:ext cx="66004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271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347472"/>
            <a:ext cx="2423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F5BE48"/>
                </a:solidFill>
                <a:latin typeface="Aptos"/>
              </a:rPr>
              <a:t>CORE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100" b="1">
                <a:solidFill>
                  <a:srgbClr val="F7F4E8"/>
                </a:solidFill>
                <a:latin typeface="Aptos"/>
              </a:rPr>
              <a:t>Q10 makes feeding responsive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64008"/>
          </a:xfrm>
          <a:prstGeom prst="rect">
            <a:avLst/>
          </a:prstGeom>
          <a:solidFill>
            <a:srgbClr val="F5BE48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6400800" cy="1005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0">
                <a:solidFill>
                  <a:srgbClr val="F7F4E8"/>
                </a:solidFill>
                <a:latin typeface="Aptos"/>
              </a:rPr>
              <a:t>Temperature changes influence fish metabolism. SmartAqua uses a Q10 factor to adjust the requested feed quantity instead of applying one fixed amount every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0440"/>
            <a:ext cx="6035040" cy="123444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548640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300" b="1">
                <a:solidFill>
                  <a:srgbClr val="F5BE48"/>
                </a:solidFill>
                <a:latin typeface="Aptos"/>
              </a:rPr>
              <a:t>Base feed quantity  ×  Q10 adjustment factor  =  temperature-responsive quantity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103120"/>
            <a:ext cx="3749039" cy="347472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2468880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F5BE48"/>
                </a:solidFill>
                <a:latin typeface="Aptos"/>
              </a:rPr>
              <a:t>Observed in the 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154680"/>
            <a:ext cx="2926080" cy="19202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F7F4E8"/>
                </a:solidFill>
                <a:latin typeface="Aptos"/>
              </a:rPr>
              <a:t>Temperature range
23.06–27.06 °C
Q10 factor range
0.866–1.165
Average dispensing deviation
≈ 1.26 g below request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599"/>
            <a:ext cx="66004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271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347472"/>
            <a:ext cx="2423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F5BE48"/>
                </a:solidFill>
                <a:latin typeface="Aptos"/>
              </a:rPr>
              <a:t>NEXT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100" b="1">
                <a:solidFill>
                  <a:srgbClr val="F7F4E8"/>
                </a:solidFill>
                <a:latin typeface="Aptos"/>
              </a:rPr>
              <a:t>From validated pilot to resilient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64008"/>
          </a:xfrm>
          <a:prstGeom prst="rect">
            <a:avLst/>
          </a:prstGeom>
          <a:solidFill>
            <a:srgbClr val="F5BE48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154680" cy="324612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256032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F5BE48"/>
                </a:solidFill>
                <a:latin typeface="Aptos"/>
              </a:rPr>
              <a:t>Now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560320" cy="18745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F7F4E8"/>
                </a:solidFill>
                <a:latin typeface="Aptos"/>
              </a:rPr>
              <a:t>Manual feeding
Scheduled feeding
Q10 adjustment
Two-month field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148840"/>
            <a:ext cx="3154680" cy="324612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514600"/>
            <a:ext cx="256032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F5BE48"/>
                </a:solidFill>
                <a:latin typeface="Aptos"/>
              </a:rPr>
              <a:t>Next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2560320" cy="18745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F7F4E8"/>
                </a:solidFill>
                <a:latin typeface="Aptos"/>
              </a:rPr>
              <a:t>Solar + battery operation
DO and pH sensing
Computer-vision verification
Reliability under poor connectivity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148840"/>
            <a:ext cx="3154680" cy="3246120"/>
          </a:xfrm>
          <a:prstGeom prst="roundRect">
            <a:avLst/>
          </a:prstGeom>
          <a:solidFill>
            <a:srgbClr val="05221B"/>
          </a:solidFill>
          <a:ln>
            <a:solidFill>
              <a:srgbClr val="BEE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80" y="2514600"/>
            <a:ext cx="256032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F5BE48"/>
                </a:solidFill>
                <a:latin typeface="Aptos"/>
              </a:rPr>
              <a:t>Scale pathway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246120"/>
            <a:ext cx="2560320" cy="18745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F7F4E8"/>
                </a:solidFill>
                <a:latin typeface="Aptos"/>
              </a:rPr>
              <a:t>More farms and fish populations
Measured labor and feed savings
Deployment partnerships
Commercial productization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 dirty="0">
                <a:solidFill>
                  <a:srgbClr val="BEE8BE"/>
                </a:solidFill>
                <a:latin typeface="Aptos"/>
              </a:rPr>
              <a:t>Advanced AI, water-quality sensing and solar operation are presented as the next validation phase—not as completed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599"/>
            <a:ext cx="660043" cy="4389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3271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7F4E8"/>
                </a:solidFill>
                <a:latin typeface="Aptos"/>
              </a:rPr>
              <a:t>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5064" y="320040"/>
            <a:ext cx="658368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F5BE48"/>
                </a:solidFill>
                <a:latin typeface="Aptos"/>
              </a:rPr>
              <a:t>AQUA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347472"/>
            <a:ext cx="24231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1">
                <a:solidFill>
                  <a:srgbClr val="F5BE48"/>
                </a:solidFill>
                <a:latin typeface="Aptos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100" b="1">
                <a:solidFill>
                  <a:srgbClr val="F7F4E8"/>
                </a:solidFill>
                <a:latin typeface="Aptos"/>
              </a:rPr>
              <a:t>What support will unlock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914400" cy="64008"/>
          </a:xfrm>
          <a:prstGeom prst="rect">
            <a:avLst/>
          </a:prstGeom>
          <a:solidFill>
            <a:srgbClr val="F5BE48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"/>
              </a:spcAft>
              <a:defRPr sz="1900">
                <a:solidFill>
                  <a:srgbClr val="F7F4E8"/>
                </a:solidFill>
                <a:latin typeface="Aptos"/>
              </a:defRPr>
            </a:pPr>
            <a:r>
              <a:t>Mentorship in aquaculture trials, product validation and commercialization.</a:t>
            </a:r>
          </a:p>
          <a:p>
            <a:pPr>
              <a:spcAft>
                <a:spcPts val="80"/>
              </a:spcAft>
              <a:defRPr sz="1900">
                <a:solidFill>
                  <a:srgbClr val="F7F4E8"/>
                </a:solidFill>
                <a:latin typeface="Aptos"/>
              </a:defRPr>
            </a:pPr>
            <a:r>
              <a:t>Pilot partnerships with additional fish farms and research institutions.</a:t>
            </a:r>
          </a:p>
          <a:p>
            <a:pPr>
              <a:spcAft>
                <a:spcPts val="80"/>
              </a:spcAft>
              <a:defRPr sz="1900">
                <a:solidFill>
                  <a:srgbClr val="F7F4E8"/>
                </a:solidFill>
                <a:latin typeface="Aptos"/>
              </a:defRPr>
            </a:pPr>
            <a:r>
              <a:t>Technical support for solar power, water-quality sensing and computer vision.</a:t>
            </a:r>
          </a:p>
          <a:p>
            <a:pPr>
              <a:spcAft>
                <a:spcPts val="80"/>
              </a:spcAft>
              <a:defRPr sz="1900">
                <a:solidFill>
                  <a:srgbClr val="F7F4E8"/>
                </a:solidFill>
                <a:latin typeface="Aptos"/>
              </a:defRPr>
            </a:pPr>
            <a:r>
              <a:t>Access to stakeholders, investors and African aquaculture networks.</a:t>
            </a:r>
          </a:p>
          <a:p>
            <a:pPr>
              <a:spcAft>
                <a:spcPts val="80"/>
              </a:spcAft>
              <a:defRPr sz="1900">
                <a:solidFill>
                  <a:srgbClr val="F7F4E8"/>
                </a:solidFill>
                <a:latin typeface="Aptos"/>
              </a:defRPr>
            </a:pPr>
            <a:r>
              <a:t>Funding to expand the field trial and quantify feed efficiency, labor savings and fish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286000"/>
            <a:ext cx="3017520" cy="3246120"/>
          </a:xfrm>
          <a:prstGeom prst="roundRect">
            <a:avLst/>
          </a:prstGeom>
          <a:solidFill>
            <a:srgbClr val="05221B"/>
          </a:solidFill>
          <a:ln>
            <a:solidFill>
              <a:srgbClr val="F5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651760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1">
                <a:solidFill>
                  <a:srgbClr val="F5BE48"/>
                </a:solidFill>
                <a:latin typeface="Aptos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337560"/>
            <a:ext cx="2377440" cy="1508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0" dirty="0" err="1">
                <a:solidFill>
                  <a:srgbClr val="F7F4E8"/>
                </a:solidFill>
                <a:latin typeface="Aptos"/>
              </a:rPr>
              <a:t>Ogunbunmi</a:t>
            </a:r>
            <a:r>
              <a:rPr sz="1700" b="0" dirty="0">
                <a:solidFill>
                  <a:srgbClr val="F7F4E8"/>
                </a:solidFill>
                <a:latin typeface="Aptos"/>
              </a:rPr>
              <a:t> Philip </a:t>
            </a:r>
            <a:r>
              <a:rPr sz="1700" b="0" dirty="0" err="1">
                <a:solidFill>
                  <a:srgbClr val="F7F4E8"/>
                </a:solidFill>
                <a:latin typeface="Aptos"/>
              </a:rPr>
              <a:t>Oluwadarasimi</a:t>
            </a:r>
            <a:r>
              <a:rPr sz="1700" b="0" dirty="0">
                <a:solidFill>
                  <a:srgbClr val="F7F4E8"/>
                </a:solidFill>
                <a:latin typeface="Aptos"/>
              </a:rPr>
              <a:t>
Federal University of Technology, </a:t>
            </a:r>
            <a:r>
              <a:rPr sz="1700" b="0" dirty="0" err="1">
                <a:solidFill>
                  <a:srgbClr val="F7F4E8"/>
                </a:solidFill>
                <a:latin typeface="Aptos"/>
              </a:rPr>
              <a:t>Akure</a:t>
            </a:r>
            <a:r>
              <a:rPr sz="1700" b="0" dirty="0">
                <a:solidFill>
                  <a:srgbClr val="F7F4E8"/>
                </a:solidFill>
                <a:latin typeface="Aptos"/>
              </a:rPr>
              <a:t>
08169150242
ogunbunmiphilip@gmail.com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8288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F5BE48"/>
                </a:solidFill>
                <a:latin typeface="Aptos"/>
              </a:rPr>
              <a:t>SmartAqua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108192"/>
            <a:ext cx="6400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dirty="0">
                <a:solidFill>
                  <a:srgbClr val="B2C9BE"/>
                </a:solidFill>
                <a:latin typeface="Aptos"/>
              </a:rPr>
              <a:t>Intelligent feeding for climate-resilient aquaculture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422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SmartAqua - Africa Agri-future Innovation Challenge 2026</dc:title>
  <dc:subject>Pilot-stage intelligent aquaculture innovation</dc:subject>
  <dc:creator>Ogunbunmi Philip Oluwadarasimi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2026-07-16T10:11:47Z</dcterms:modified>
  <cp:category/>
</cp:coreProperties>
</file>